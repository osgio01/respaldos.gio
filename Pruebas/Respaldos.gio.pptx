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2/20/2026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2/20/2026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2/20/2026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942229-3BD4-46EE-AD0A-C7D5158EBE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err="1"/>
              <a:t>Respaldos.gio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7D9E244-ADB3-B700-C649-B84CB5B9BF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Oscar Giovanni Fuentes Campos</a:t>
            </a:r>
          </a:p>
        </p:txBody>
      </p:sp>
    </p:spTree>
    <p:extLst>
      <p:ext uri="{BB962C8B-B14F-4D97-AF65-F5344CB8AC3E}">
        <p14:creationId xmlns:p14="http://schemas.microsoft.com/office/powerpoint/2010/main" val="3039110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35096E-FD4A-E11A-B540-16B33EE54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¿Cuál es el problema?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DA9D64-55FA-1C93-2FA6-F62CA8026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427" y="1885285"/>
            <a:ext cx="6315973" cy="3997828"/>
          </a:xfrm>
        </p:spPr>
        <p:txBody>
          <a:bodyPr/>
          <a:lstStyle/>
          <a:p>
            <a:r>
              <a:rPr lang="es-MX" dirty="0"/>
              <a:t>Cuando una computadora de uso diario esta muy lenta, memoria saturada y es requerido hacer un formateo </a:t>
            </a:r>
          </a:p>
          <a:p>
            <a:r>
              <a:rPr lang="es-MX" dirty="0"/>
              <a:t>El técnico que cuente con esta herramienta normalmente revisa archivo por archivo lo cual le costa mucho tiempo lo que puede provocar retrasos o perdidas de información</a:t>
            </a:r>
          </a:p>
        </p:txBody>
      </p:sp>
      <p:pic>
        <p:nvPicPr>
          <p:cNvPr id="1026" name="Picture 2" descr="Porqué mi computadora está lenta | Tecnología + Informática">
            <a:extLst>
              <a:ext uri="{FF2B5EF4-FFF2-40B4-BE49-F238E27FC236}">
                <a16:creationId xmlns:a16="http://schemas.microsoft.com/office/drawing/2014/main" id="{D3DBC2DB-81FB-78D7-AEAA-5123551A2A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8" r="19524"/>
          <a:stretch/>
        </p:blipFill>
        <p:spPr bwMode="auto">
          <a:xfrm>
            <a:off x="7509327" y="2288761"/>
            <a:ext cx="3309257" cy="2847975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9504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88FCEF-D4CB-34A8-CCA4-440590C25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Solución o propuesta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59C95B-A49C-B9E1-E164-90E8C7AF1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7299" y="1599535"/>
            <a:ext cx="8875476" cy="3997828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La propuesta </a:t>
            </a:r>
            <a:r>
              <a:rPr lang="en-GB" dirty="0"/>
              <a:t>principal es el Desarrollo de un Sistema ligero que:</a:t>
            </a:r>
          </a:p>
          <a:p>
            <a:r>
              <a:rPr lang="es-MX" dirty="0"/>
              <a:t>Detecte automáticamente archivos importantes</a:t>
            </a:r>
          </a:p>
          <a:p>
            <a:r>
              <a:rPr lang="es-MX" dirty="0"/>
              <a:t> Los respalde en una USB o disco externo</a:t>
            </a:r>
          </a:p>
          <a:p>
            <a:r>
              <a:rPr lang="es-MX" dirty="0"/>
              <a:t>Organice los archivos por extensión</a:t>
            </a:r>
          </a:p>
          <a:p>
            <a:r>
              <a:rPr lang="es-MX" dirty="0"/>
              <a:t> Funcione incluso en equipos de bajos recursos</a:t>
            </a:r>
            <a:endParaRPr lang="en-GB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65902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7197B3-520A-E1A6-35B2-F82B192DB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Objetivo General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7F64EE-869B-938C-B35E-144D5BB15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1861" y="1804937"/>
            <a:ext cx="9477375" cy="1571625"/>
          </a:xfrm>
        </p:spPr>
        <p:txBody>
          <a:bodyPr/>
          <a:lstStyle/>
          <a:p>
            <a:r>
              <a:rPr lang="es-MX" dirty="0"/>
              <a:t>Desarrollar un sistema ligero y multiplataforma que permita respaldar documentos de una PC usando el menor consumo de recursos posible.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2050" name="Picture 2" descr="15 Best Python IDE &amp; Text Editors | Blog - BairesDev">
            <a:extLst>
              <a:ext uri="{FF2B5EF4-FFF2-40B4-BE49-F238E27FC236}">
                <a16:creationId xmlns:a16="http://schemas.microsoft.com/office/drawing/2014/main" id="{2DEBD210-8C6C-255E-2DEB-F6352A68A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2709" y="3376562"/>
            <a:ext cx="5126581" cy="2886075"/>
          </a:xfrm>
          <a:prstGeom prst="rect">
            <a:avLst/>
          </a:prstGeom>
          <a:noFill/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1363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3FC2C0-7509-D697-B164-1DEEE2E63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Metodología utilizada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737107C-6073-F24D-70A4-49FBA3078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1858" y="1769171"/>
            <a:ext cx="7796540" cy="3997828"/>
          </a:xfrm>
        </p:spPr>
        <p:txBody>
          <a:bodyPr/>
          <a:lstStyle/>
          <a:p>
            <a:r>
              <a:rPr lang="es-MX" dirty="0"/>
              <a:t>Se utilizo el Método de prototipos que consiste en crear una versión inicial, evaluarla, mejorarla y repetir ese proceso hasta tener una versión final</a:t>
            </a:r>
          </a:p>
          <a:p>
            <a:r>
              <a:rPr lang="es-MX" dirty="0"/>
              <a:t>Por lo cual nos permitió experimentar con:</a:t>
            </a:r>
          </a:p>
          <a:p>
            <a:r>
              <a:rPr lang="es-MX" dirty="0"/>
              <a:t>PowerShell</a:t>
            </a:r>
          </a:p>
          <a:p>
            <a:r>
              <a:rPr lang="es-MX" dirty="0"/>
              <a:t>Bash</a:t>
            </a:r>
          </a:p>
          <a:p>
            <a:r>
              <a:rPr lang="es-MX" dirty="0"/>
              <a:t>Python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CBE2964-7135-2332-F945-B5D25C093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973" y="3089047"/>
            <a:ext cx="4514850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74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00E7A9-D6C6-8B15-B056-C9F3AB80F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Evolución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D3240C-121D-B207-7D5E-4A5265130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841" y="1180745"/>
            <a:ext cx="7796540" cy="3997828"/>
          </a:xfrm>
        </p:spPr>
        <p:txBody>
          <a:bodyPr/>
          <a:lstStyle/>
          <a:p>
            <a:r>
              <a:rPr lang="es-MX" dirty="0"/>
              <a:t>Prototipo 1 → PowerShell (Windows)</a:t>
            </a:r>
          </a:p>
          <a:p>
            <a:r>
              <a:rPr lang="es-MX" dirty="0"/>
              <a:t> Prototipo 2 → Compresión ZIP</a:t>
            </a:r>
          </a:p>
          <a:p>
            <a:r>
              <a:rPr lang="es-MX" dirty="0"/>
              <a:t>Prototipo 3 → Bash (Linux/macOS)</a:t>
            </a:r>
          </a:p>
          <a:p>
            <a:r>
              <a:rPr lang="es-MX" dirty="0"/>
              <a:t> Prototipo 4 → Migración a Python</a:t>
            </a:r>
          </a:p>
          <a:p>
            <a:r>
              <a:rPr lang="es-MX" dirty="0"/>
              <a:t>Prototipo Final → Multiplataforma, con estados y mejoras visuales</a:t>
            </a:r>
          </a:p>
          <a:p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E5BA3B1-6294-D42C-3F94-40B59F3CA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680" y="1327648"/>
            <a:ext cx="4030345" cy="125095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0B61CB9-873C-C5E4-BD1D-4128A2E2C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880" y="2951287"/>
            <a:ext cx="2377646" cy="142658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F4BFDB5-3110-6CAE-6DA0-E59226DF99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6870" y="4734755"/>
            <a:ext cx="3042168" cy="159119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D462723-773D-D11A-33AB-5DAF5DB6D3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033" y="4530093"/>
            <a:ext cx="2658086" cy="204233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46ACE85-4DDA-EB25-75FA-3E2B8DFB18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1778" y="4052617"/>
            <a:ext cx="3488443" cy="271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431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8484B7-4FB2-E665-2B56-4063DD31B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¿Qué hace el sistema actualmente?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23A517-C56B-45DC-6656-7EEF9F642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2052116"/>
            <a:ext cx="7796540" cy="4805884"/>
          </a:xfrm>
        </p:spPr>
        <p:txBody>
          <a:bodyPr>
            <a:normAutofit fontScale="92500" lnSpcReduction="10000"/>
          </a:bodyPr>
          <a:lstStyle/>
          <a:p>
            <a:r>
              <a:rPr lang="es-MX" dirty="0"/>
              <a:t>El sistema puede:</a:t>
            </a:r>
          </a:p>
          <a:p>
            <a:r>
              <a:rPr lang="es-MX" dirty="0"/>
              <a:t>Detectar unidades externas (USB/HDD)</a:t>
            </a:r>
          </a:p>
          <a:p>
            <a:r>
              <a:rPr lang="es-MX" dirty="0"/>
              <a:t> Respaldar carpetas del usuario</a:t>
            </a:r>
          </a:p>
          <a:p>
            <a:r>
              <a:rPr lang="es-MX" dirty="0"/>
              <a:t>Respaldar por extensión (.docx, .</a:t>
            </a:r>
            <a:r>
              <a:rPr lang="es-MX" dirty="0" err="1"/>
              <a:t>pdf</a:t>
            </a:r>
            <a:r>
              <a:rPr lang="es-MX" dirty="0"/>
              <a:t>, .</a:t>
            </a:r>
            <a:r>
              <a:rPr lang="es-MX" dirty="0" err="1"/>
              <a:t>jpg</a:t>
            </a:r>
            <a:r>
              <a:rPr lang="es-MX" dirty="0"/>
              <a:t>, etc.)</a:t>
            </a:r>
          </a:p>
          <a:p>
            <a:r>
              <a:rPr lang="es-MX" dirty="0"/>
              <a:t>Respaldar XAMPP y MySQL</a:t>
            </a:r>
          </a:p>
          <a:p>
            <a:r>
              <a:rPr lang="es-MX" dirty="0"/>
              <a:t>Reanudar respaldos interrumpidos</a:t>
            </a:r>
          </a:p>
          <a:p>
            <a:r>
              <a:rPr lang="es-MX" dirty="0"/>
              <a:t>Mostrar barra de progreso</a:t>
            </a:r>
          </a:p>
          <a:p>
            <a:r>
              <a:rPr lang="es-MX" dirty="0"/>
              <a:t>Registrar logs</a:t>
            </a:r>
          </a:p>
          <a:p>
            <a:r>
              <a:rPr lang="es-MX" dirty="0"/>
              <a:t>Eliminar respaldos creados por el sistema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71948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F5C433-5219-62AF-DD3C-270DD5D99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Características técnicas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ECE4BC-890F-3304-89D0-EE514A5E1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115" y="1885285"/>
            <a:ext cx="7796540" cy="3997828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Utiliza: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Manejo de archivos (os, </a:t>
            </a:r>
            <a:r>
              <a:rPr lang="es-MX" dirty="0" err="1"/>
              <a:t>shutil</a:t>
            </a:r>
            <a:r>
              <a:rPr lang="es-MX" dirty="0"/>
              <a:t>, </a:t>
            </a:r>
            <a:r>
              <a:rPr lang="es-MX" dirty="0" err="1"/>
              <a:t>pathlib</a:t>
            </a:r>
            <a:r>
              <a:rPr lang="es-MX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JSON para configuración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 err="1"/>
              <a:t>Dataclasses</a:t>
            </a:r>
            <a:r>
              <a:rPr lang="es-MX" dirty="0"/>
              <a:t> para modelado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Detección multiplataforma (Windows, macOS, Linux)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Sistema de estados persistentes</a:t>
            </a:r>
          </a:p>
          <a:p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8BBA7C8-533F-214C-48D1-0015C7E65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127" y="2069693"/>
            <a:ext cx="3629012" cy="3629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58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3C4B0A-ECAD-941D-EFD1-530F445C3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Innovaciones del producto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D8CB54-E6DC-896F-3D1C-192A51612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5388" y="2537025"/>
            <a:ext cx="7796540" cy="3997828"/>
          </a:xfrm>
        </p:spPr>
        <p:txBody>
          <a:bodyPr/>
          <a:lstStyle/>
          <a:p>
            <a:r>
              <a:rPr lang="es-MX" dirty="0"/>
              <a:t>Respaldo </a:t>
            </a:r>
            <a:r>
              <a:rPr lang="es-MX" dirty="0" err="1"/>
              <a:t>reanudable</a:t>
            </a:r>
            <a:endParaRPr lang="es-MX" dirty="0"/>
          </a:p>
          <a:p>
            <a:r>
              <a:rPr lang="es-MX" dirty="0"/>
              <a:t> Sistema de lista blanca y lista negra</a:t>
            </a:r>
          </a:p>
          <a:p>
            <a:r>
              <a:rPr lang="es-MX" dirty="0"/>
              <a:t> Organización automática por extensión</a:t>
            </a:r>
          </a:p>
          <a:p>
            <a:r>
              <a:rPr lang="es-MX" dirty="0"/>
              <a:t>Registro de auditoría</a:t>
            </a:r>
          </a:p>
          <a:p>
            <a:r>
              <a:rPr lang="es-MX" dirty="0"/>
              <a:t> Compatible con entornos de desarrollo (XAMPP, MySQL)</a:t>
            </a:r>
          </a:p>
        </p:txBody>
      </p:sp>
      <p:pic>
        <p:nvPicPr>
          <p:cNvPr id="6146" name="Picture 2" descr="Lista Negra Y Lista Del Blanco Stock de ilustración - Ilustración de ...">
            <a:extLst>
              <a:ext uri="{FF2B5EF4-FFF2-40B4-BE49-F238E27FC236}">
                <a16:creationId xmlns:a16="http://schemas.microsoft.com/office/drawing/2014/main" id="{57203C56-E06B-65B6-CF6D-2B7AE1A024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82" b="18384"/>
          <a:stretch/>
        </p:blipFill>
        <p:spPr bwMode="auto">
          <a:xfrm>
            <a:off x="6407492" y="1684978"/>
            <a:ext cx="4728873" cy="3488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9745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514223-ADFE-09E3-6BBD-D6853AF27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Seguridad y usabilidad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7F74E2-5921-C947-116C-FFB32F726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4290" y="2052116"/>
            <a:ext cx="7796540" cy="3997828"/>
          </a:xfrm>
        </p:spPr>
        <p:txBody>
          <a:bodyPr/>
          <a:lstStyle/>
          <a:p>
            <a:r>
              <a:rPr lang="es-MX" dirty="0"/>
              <a:t>No requiere conexión a internet</a:t>
            </a:r>
          </a:p>
          <a:p>
            <a:r>
              <a:rPr lang="es-MX" dirty="0"/>
              <a:t>Solo permisos de usuario</a:t>
            </a:r>
          </a:p>
          <a:p>
            <a:r>
              <a:rPr lang="es-MX" dirty="0"/>
              <a:t> Interfaz sencilla en consola</a:t>
            </a:r>
          </a:p>
          <a:p>
            <a:r>
              <a:rPr lang="es-MX" dirty="0"/>
              <a:t>Mensajes claros</a:t>
            </a:r>
          </a:p>
          <a:p>
            <a:r>
              <a:rPr lang="es-MX" dirty="0"/>
              <a:t> Bajo consumo de recursos</a:t>
            </a:r>
          </a:p>
          <a:p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972FCF6-6008-AF7A-0F35-7AA4F2C9E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436668"/>
            <a:ext cx="5163085" cy="274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137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6BFEC9-DAE4-1EC5-FBB0-D94A753D6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Viabilidad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168A42-CBCF-B810-A950-3719EC34D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9598" y="1315183"/>
            <a:ext cx="7796540" cy="4902866"/>
          </a:xfrm>
        </p:spPr>
        <p:txBody>
          <a:bodyPr>
            <a:normAutofit/>
          </a:bodyPr>
          <a:lstStyle/>
          <a:p>
            <a:r>
              <a:rPr lang="es-MX" dirty="0"/>
              <a:t>Costo de desarrollo: $0</a:t>
            </a:r>
          </a:p>
          <a:p>
            <a:r>
              <a:rPr lang="es-MX" dirty="0"/>
              <a:t>Software libre</a:t>
            </a:r>
          </a:p>
          <a:p>
            <a:r>
              <a:rPr lang="es-MX" dirty="0"/>
              <a:t>Solo se utilizó una memoria </a:t>
            </a:r>
          </a:p>
          <a:p>
            <a:pPr marL="0" indent="0">
              <a:buNone/>
            </a:pPr>
            <a:r>
              <a:rPr lang="es-MX" dirty="0"/>
              <a:t>USB de 128GB</a:t>
            </a:r>
          </a:p>
          <a:p>
            <a:endParaRPr lang="es-MX" dirty="0"/>
          </a:p>
          <a:p>
            <a:r>
              <a:rPr lang="es-MX" dirty="0"/>
              <a:t>Viable técnicamente</a:t>
            </a:r>
          </a:p>
          <a:p>
            <a:r>
              <a:rPr lang="es-MX" dirty="0"/>
              <a:t>Viable económicamente</a:t>
            </a:r>
          </a:p>
          <a:p>
            <a:r>
              <a:rPr lang="es-MX" dirty="0"/>
              <a:t>Viable operativamente</a:t>
            </a:r>
          </a:p>
          <a:p>
            <a:endParaRPr lang="es-MX" dirty="0"/>
          </a:p>
        </p:txBody>
      </p:sp>
      <p:pic>
        <p:nvPicPr>
          <p:cNvPr id="8194" name="Picture 2" descr="Análisis de la viabilidad de un proyecto | Kyocera">
            <a:extLst>
              <a:ext uri="{FF2B5EF4-FFF2-40B4-BE49-F238E27FC236}">
                <a16:creationId xmlns:a16="http://schemas.microsoft.com/office/drawing/2014/main" id="{00B178EC-36B0-5BC8-AF2F-D6AF129014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6837" y="2052116"/>
            <a:ext cx="54864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623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CC206E-D663-DD94-8185-1ECFE9F81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Resultados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BF3DBE-B735-3D0B-2165-96635AF43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1054" y="1817079"/>
            <a:ext cx="7796540" cy="3997828"/>
          </a:xfrm>
        </p:spPr>
        <p:txBody>
          <a:bodyPr/>
          <a:lstStyle/>
          <a:p>
            <a:r>
              <a:rPr lang="es-MX" dirty="0"/>
              <a:t>Reducir tiempo de respaldo</a:t>
            </a:r>
          </a:p>
          <a:p>
            <a:r>
              <a:rPr lang="es-MX" dirty="0"/>
              <a:t>Evitar errores por permisos</a:t>
            </a:r>
          </a:p>
          <a:p>
            <a:r>
              <a:rPr lang="es-MX" dirty="0"/>
              <a:t>Excluir archivos innecesarios del sistema</a:t>
            </a:r>
          </a:p>
          <a:p>
            <a:r>
              <a:rPr lang="es-MX" dirty="0"/>
              <a:t>Priorizar archivos personales</a:t>
            </a:r>
          </a:p>
          <a:p>
            <a:r>
              <a:rPr lang="es-MX" dirty="0"/>
              <a:t>Mejorar progresivamente con cada ejecución</a:t>
            </a:r>
          </a:p>
        </p:txBody>
      </p:sp>
      <p:pic>
        <p:nvPicPr>
          <p:cNvPr id="9218" name="Picture 2" descr="Reducir el tiempo - Iconos gratis de hora y fecha">
            <a:extLst>
              <a:ext uri="{FF2B5EF4-FFF2-40B4-BE49-F238E27FC236}">
                <a16:creationId xmlns:a16="http://schemas.microsoft.com/office/drawing/2014/main" id="{148464F1-3B9C-41F1-5683-3FB3FA708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2364" y="1508678"/>
            <a:ext cx="2341418" cy="234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Recover Files Bilder – Durchsuchen 3,403 Archivfotos, Vektorgrafiken ...">
            <a:extLst>
              <a:ext uri="{FF2B5EF4-FFF2-40B4-BE49-F238E27FC236}">
                <a16:creationId xmlns:a16="http://schemas.microsoft.com/office/drawing/2014/main" id="{D51EA199-D20E-FA39-5D19-67EAA3140A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24" t="3147" r="14425" b="7906"/>
          <a:stretch/>
        </p:blipFill>
        <p:spPr bwMode="auto">
          <a:xfrm>
            <a:off x="8907594" y="3815993"/>
            <a:ext cx="2408000" cy="2569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3665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394604-F69C-6A5E-2689-7A41E1E7D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Área de mejora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DBD14C-2B92-B7BC-6E38-A902D16EB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8762" y="1983910"/>
            <a:ext cx="7796540" cy="3997828"/>
          </a:xfrm>
        </p:spPr>
        <p:txBody>
          <a:bodyPr/>
          <a:lstStyle/>
          <a:p>
            <a:r>
              <a:rPr lang="es-MX" dirty="0"/>
              <a:t>Mejorar eficiencia en archivos grandes</a:t>
            </a:r>
          </a:p>
          <a:p>
            <a:r>
              <a:rPr lang="es-MX" dirty="0"/>
              <a:t>Mejorar mensajes de error</a:t>
            </a:r>
          </a:p>
          <a:p>
            <a:r>
              <a:rPr lang="es-MX" dirty="0"/>
              <a:t>Interfaz gráfica futura</a:t>
            </a:r>
          </a:p>
          <a:p>
            <a:r>
              <a:rPr lang="es-MX" dirty="0"/>
              <a:t>Respaldo en la nube</a:t>
            </a:r>
          </a:p>
          <a:p>
            <a:r>
              <a:rPr lang="es-MX" dirty="0"/>
              <a:t> Copias automáticas programadas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C10D9A0-2F7E-608A-9BED-8D7AE31D2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4684" y="2618838"/>
            <a:ext cx="4973301" cy="272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344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5DA68E-2358-C00A-17E2-56A4F1A93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Conclusion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703027-38BF-8599-C932-335545D2E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272" y="1885285"/>
            <a:ext cx="7796540" cy="4395315"/>
          </a:xfrm>
        </p:spPr>
        <p:txBody>
          <a:bodyPr>
            <a:normAutofit/>
          </a:bodyPr>
          <a:lstStyle/>
          <a:p>
            <a:r>
              <a:rPr lang="es-MX" dirty="0" err="1"/>
              <a:t>Respaldar.gio</a:t>
            </a:r>
            <a:r>
              <a:rPr lang="es-MX" dirty="0"/>
              <a:t> es un sistema: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Ligero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Multiplataforma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Modular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Escalable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Pensado para técnicos y usuarios comunes</a:t>
            </a:r>
          </a:p>
          <a:p>
            <a:r>
              <a:rPr lang="es-MX" dirty="0"/>
              <a:t>Reduce tiempo, riesgo y esfuerzo al momento de formatear una PC.</a:t>
            </a:r>
          </a:p>
          <a:p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3D4CB1F-4019-04F9-B878-21E75085F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2692" y="1475670"/>
            <a:ext cx="4210330" cy="327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0169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{C4F00139-A65A-4291-9387-B7E9C772B2F2}TF37254b02-f5b5-44b0-803d-e6af9466a0244d147964-33a7cc9fa501</Template>
  <TotalTime>51</TotalTime>
  <Words>448</Words>
  <Application>Microsoft Office PowerPoint</Application>
  <PresentationFormat>Panorámica</PresentationFormat>
  <Paragraphs>83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MS Shell Dlg 2</vt:lpstr>
      <vt:lpstr>Wingdings</vt:lpstr>
      <vt:lpstr>Wingdings 3</vt:lpstr>
      <vt:lpstr>Madison</vt:lpstr>
      <vt:lpstr>Respaldos.gio</vt:lpstr>
      <vt:lpstr>¿Cuál es el problema?</vt:lpstr>
      <vt:lpstr>Solución o propuesta</vt:lpstr>
      <vt:lpstr>Objetivo General</vt:lpstr>
      <vt:lpstr>Metodología utilizada </vt:lpstr>
      <vt:lpstr>Evolución del Proyecto</vt:lpstr>
      <vt:lpstr>¿Qué hace el sistema actualmente?</vt:lpstr>
      <vt:lpstr>Características técnicas </vt:lpstr>
      <vt:lpstr>Innovaciones del producto</vt:lpstr>
      <vt:lpstr>Seguridad y usabilidad</vt:lpstr>
      <vt:lpstr>Viabilidad</vt:lpstr>
      <vt:lpstr>Resultados</vt:lpstr>
      <vt:lpstr>Área de mejora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Oscar Giovanni Fuentes Campos</dc:creator>
  <cp:lastModifiedBy>Oscar Giovanni Fuentes Campos</cp:lastModifiedBy>
  <cp:revision>4</cp:revision>
  <dcterms:created xsi:type="dcterms:W3CDTF">2026-02-13T08:39:39Z</dcterms:created>
  <dcterms:modified xsi:type="dcterms:W3CDTF">2026-02-20T21:32:08Z</dcterms:modified>
</cp:coreProperties>
</file>